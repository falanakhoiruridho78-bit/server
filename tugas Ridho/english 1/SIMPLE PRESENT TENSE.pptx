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21"/>
  </p:notesMasterIdLst>
  <p:sldIdLst>
    <p:sldId id="256" r:id="rId2"/>
    <p:sldId id="349" r:id="rId3"/>
    <p:sldId id="260" r:id="rId4"/>
    <p:sldId id="350" r:id="rId5"/>
    <p:sldId id="351" r:id="rId6"/>
    <p:sldId id="352" r:id="rId7"/>
    <p:sldId id="342" r:id="rId8"/>
    <p:sldId id="353" r:id="rId9"/>
    <p:sldId id="354" r:id="rId10"/>
    <p:sldId id="341" r:id="rId11"/>
    <p:sldId id="261" r:id="rId12"/>
    <p:sldId id="340" r:id="rId13"/>
    <p:sldId id="343" r:id="rId14"/>
    <p:sldId id="265" r:id="rId15"/>
    <p:sldId id="344" r:id="rId16"/>
    <p:sldId id="345" r:id="rId17"/>
    <p:sldId id="346" r:id="rId18"/>
    <p:sldId id="347" r:id="rId19"/>
    <p:sldId id="348" r:id="rId20"/>
  </p:sldIdLst>
  <p:sldSz cx="9144000" cy="5143500" type="screen16x9"/>
  <p:notesSz cx="6858000" cy="9144000"/>
  <p:embeddedFontLst>
    <p:embeddedFont>
      <p:font typeface="Kulim Park" panose="020B0604020202020204" charset="0"/>
      <p:regular r:id="rId22"/>
      <p:bold r:id="rId23"/>
      <p:italic r:id="rId24"/>
      <p:boldItalic r:id="rId25"/>
    </p:embeddedFont>
    <p:embeddedFont>
      <p:font typeface="Kulim Park SemiBold" panose="020B0604020202020204" charset="0"/>
      <p:regular r:id="rId26"/>
      <p:bold r:id="rId27"/>
      <p:italic r:id="rId28"/>
      <p:boldItalic r:id="rId29"/>
    </p:embeddedFont>
    <p:embeddedFont>
      <p:font typeface="Manrope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B63390-C94A-4758-BA18-37C40D4B601A}">
  <a:tblStyle styleId="{48B63390-C94A-4758-BA18-37C40D4B60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826C74-7732-4CB1-AC11-FA179335741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91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ead612980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ead612980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ead612980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ead612980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8201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ead612980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ead612980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387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690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77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ead612980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ead612980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875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6184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550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199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813319">
            <a:off x="-1616877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649785" flipH="1">
            <a:off x="6475477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25387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8823147">
            <a:off x="-2265377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536238" y="-142500"/>
            <a:ext cx="4935815" cy="3769836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649785">
            <a:off x="716152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244193">
            <a:off x="4086917" y="-777268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-9555807">
            <a:off x="-6119383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 rot="813319">
            <a:off x="-704002" y="2342077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 rot="-5553048">
            <a:off x="-3421688" y="1600648"/>
            <a:ext cx="5990367" cy="5613156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 rot="-1460553" flipH="1">
            <a:off x="6702382" y="-661835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3657786">
            <a:off x="7243056" y="893138"/>
            <a:ext cx="4558957" cy="1365879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3624623">
            <a:off x="5761668" y="608449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720000" y="1095450"/>
            <a:ext cx="77028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5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 rot="813319">
            <a:off x="-2477752" y="-50555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 rot="3394465" flipH="1">
            <a:off x="4067684" y="51096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7010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/>
          <p:nvPr/>
        </p:nvSpPr>
        <p:spPr>
          <a:xfrm rot="3406877">
            <a:off x="3098060" y="-32126"/>
            <a:ext cx="7826090" cy="287785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 rot="-7426355">
            <a:off x="-555754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723300" y="775600"/>
            <a:ext cx="6137400" cy="17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799500" y="2583500"/>
            <a:ext cx="61374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8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/>
          <p:nvPr/>
        </p:nvSpPr>
        <p:spPr>
          <a:xfrm rot="-3394465">
            <a:off x="-4398774" y="421144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6"/>
          <p:cNvSpPr/>
          <p:nvPr/>
        </p:nvSpPr>
        <p:spPr>
          <a:xfrm flipH="1">
            <a:off x="-5777841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6"/>
          <p:cNvSpPr/>
          <p:nvPr/>
        </p:nvSpPr>
        <p:spPr>
          <a:xfrm rot="-3952094" flipH="1">
            <a:off x="-4776410" y="665034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6"/>
          <p:cNvSpPr/>
          <p:nvPr/>
        </p:nvSpPr>
        <p:spPr>
          <a:xfrm rot="649760">
            <a:off x="-4213998" y="535117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6"/>
          <p:cNvSpPr/>
          <p:nvPr/>
        </p:nvSpPr>
        <p:spPr>
          <a:xfrm rot="-813319" flipH="1">
            <a:off x="4527346" y="-341479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6"/>
          <p:cNvSpPr/>
          <p:nvPr/>
        </p:nvSpPr>
        <p:spPr>
          <a:xfrm rot="10285603" flipH="1">
            <a:off x="4806347" y="33637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6"/>
          <p:cNvSpPr/>
          <p:nvPr/>
        </p:nvSpPr>
        <p:spPr>
          <a:xfrm rot="5626330" flipH="1">
            <a:off x="3918525" y="675664"/>
            <a:ext cx="7826010" cy="287782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1"/>
          </p:nvPr>
        </p:nvSpPr>
        <p:spPr>
          <a:xfrm>
            <a:off x="1133900" y="1868725"/>
            <a:ext cx="6223800" cy="23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title"/>
          </p:nvPr>
        </p:nvSpPr>
        <p:spPr>
          <a:xfrm>
            <a:off x="1133900" y="922175"/>
            <a:ext cx="6363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39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>
            <a:spLocks noGrp="1"/>
          </p:cNvSpPr>
          <p:nvPr>
            <p:ph type="pic" idx="2"/>
          </p:nvPr>
        </p:nvSpPr>
        <p:spPr>
          <a:xfrm>
            <a:off x="704000" y="1274500"/>
            <a:ext cx="3546900" cy="324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1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1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1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ulim Park"/>
                <a:ea typeface="Kulim Park"/>
                <a:cs typeface="Kulim Park"/>
                <a:sym typeface="Kulim Par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9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9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9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9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9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0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50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50"/>
          <p:cNvSpPr/>
          <p:nvPr/>
        </p:nvSpPr>
        <p:spPr>
          <a:xfrm rot="3394465" flipH="1">
            <a:off x="5593334" y="21714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0"/>
          <p:cNvSpPr/>
          <p:nvPr/>
        </p:nvSpPr>
        <p:spPr>
          <a:xfrm rot="-10285603">
            <a:off x="6336471" y="-29172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50"/>
          <p:cNvSpPr/>
          <p:nvPr/>
        </p:nvSpPr>
        <p:spPr>
          <a:xfrm rot="-2238616">
            <a:off x="-4635728" y="470344"/>
            <a:ext cx="7826078" cy="287785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6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"/>
          <p:cNvSpPr/>
          <p:nvPr/>
        </p:nvSpPr>
        <p:spPr>
          <a:xfrm rot="813319">
            <a:off x="-1121291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51"/>
          <p:cNvSpPr/>
          <p:nvPr/>
        </p:nvSpPr>
        <p:spPr>
          <a:xfrm rot="-649785" flipH="1">
            <a:off x="6971064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1620973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1"/>
          <p:cNvSpPr/>
          <p:nvPr/>
        </p:nvSpPr>
        <p:spPr>
          <a:xfrm rot="8823147">
            <a:off x="-2081090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1"/>
          <p:cNvSpPr/>
          <p:nvPr/>
        </p:nvSpPr>
        <p:spPr>
          <a:xfrm rot="-8100000">
            <a:off x="7300672" y="494176"/>
            <a:ext cx="4935837" cy="3769884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1"/>
          <p:cNvSpPr/>
          <p:nvPr/>
        </p:nvSpPr>
        <p:spPr>
          <a:xfrm rot="649785">
            <a:off x="1211739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51"/>
          <p:cNvSpPr/>
          <p:nvPr/>
        </p:nvSpPr>
        <p:spPr>
          <a:xfrm rot="2128845">
            <a:off x="3591964" y="-1767729"/>
            <a:ext cx="7826192" cy="287789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51"/>
          <p:cNvSpPr/>
          <p:nvPr/>
        </p:nvSpPr>
        <p:spPr>
          <a:xfrm rot="-9555807">
            <a:off x="-5772621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7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2"/>
          <p:cNvSpPr/>
          <p:nvPr/>
        </p:nvSpPr>
        <p:spPr>
          <a:xfrm rot="-7405535" flipH="1">
            <a:off x="-3234670" y="-395249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52"/>
          <p:cNvSpPr/>
          <p:nvPr/>
        </p:nvSpPr>
        <p:spPr>
          <a:xfrm rot="10800000">
            <a:off x="-4386762" y="886054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52"/>
          <p:cNvSpPr/>
          <p:nvPr/>
        </p:nvSpPr>
        <p:spPr>
          <a:xfrm rot="-6847906">
            <a:off x="-4259206" y="2193197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52"/>
          <p:cNvSpPr/>
          <p:nvPr/>
        </p:nvSpPr>
        <p:spPr>
          <a:xfrm rot="10150240" flipH="1">
            <a:off x="-3503869" y="4261834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52"/>
          <p:cNvSpPr/>
          <p:nvPr/>
        </p:nvSpPr>
        <p:spPr>
          <a:xfrm rot="-9986681">
            <a:off x="4621400" y="2424119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52"/>
          <p:cNvSpPr/>
          <p:nvPr/>
        </p:nvSpPr>
        <p:spPr>
          <a:xfrm rot="514397">
            <a:off x="5775901" y="-348575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52"/>
          <p:cNvSpPr/>
          <p:nvPr/>
        </p:nvSpPr>
        <p:spPr>
          <a:xfrm rot="3373645">
            <a:off x="6277252" y="102828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1075" y="438900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1075" y="1351868"/>
            <a:ext cx="77019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8" r:id="rId5"/>
    <p:sldLayoutId id="2147483672" r:id="rId6"/>
    <p:sldLayoutId id="2147483677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bipu.ums.ac.id/wp-content/uploads/sites/72/2019/11/Materi-ETP-Unit-2-dan-3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8"/>
          <p:cNvSpPr txBox="1">
            <a:spLocks noGrp="1"/>
          </p:cNvSpPr>
          <p:nvPr>
            <p:ph type="ctrTitle"/>
          </p:nvPr>
        </p:nvSpPr>
        <p:spPr>
          <a:xfrm>
            <a:off x="723150" y="892629"/>
            <a:ext cx="7697700" cy="21996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>
                <a:latin typeface="Kulim Park"/>
                <a:ea typeface="Kulim Park"/>
                <a:cs typeface="Kulim Park"/>
                <a:sym typeface="Kulim Park"/>
              </a:rPr>
              <a:t>SIMPLE PRESENT TENSE</a:t>
            </a:r>
            <a:endParaRPr sz="3600" dirty="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561" name="Google Shape;561;p58"/>
          <p:cNvSpPr txBox="1">
            <a:spLocks noGrp="1"/>
          </p:cNvSpPr>
          <p:nvPr>
            <p:ph type="subTitle" idx="1"/>
          </p:nvPr>
        </p:nvSpPr>
        <p:spPr>
          <a:xfrm>
            <a:off x="1962750" y="3633975"/>
            <a:ext cx="52185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Rahma Aini, S.S., M.Pd.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50843" y="1046602"/>
            <a:ext cx="7182997" cy="3174723"/>
          </a:xfrm>
        </p:spPr>
        <p:txBody>
          <a:bodyPr/>
          <a:lstStyle/>
          <a:p>
            <a:pPr marL="469900" indent="-342900">
              <a:buAutoNum type="arabicPeriod"/>
            </a:pPr>
            <a:r>
              <a:rPr lang="en-US" sz="1500" dirty="0" smtClean="0"/>
              <a:t>up </a:t>
            </a:r>
            <a:r>
              <a:rPr lang="en-US" sz="1500" dirty="0"/>
              <a:t>/ 7 / get / I / </a:t>
            </a:r>
            <a:r>
              <a:rPr lang="en-US" sz="1500" dirty="0" smtClean="0"/>
              <a:t>at</a:t>
            </a:r>
          </a:p>
          <a:p>
            <a:pPr marL="127000" indent="0">
              <a:buNone/>
            </a:pPr>
            <a:r>
              <a:rPr lang="en-US" sz="1500" dirty="0" smtClean="0"/>
              <a:t>&gt;&gt; I get up at 7</a:t>
            </a:r>
          </a:p>
          <a:p>
            <a:pPr marL="127000" indent="0">
              <a:buNone/>
            </a:pPr>
            <a:endParaRPr lang="en-US" sz="1500" dirty="0"/>
          </a:p>
          <a:p>
            <a:pPr marL="127000" indent="0">
              <a:buNone/>
            </a:pPr>
            <a:r>
              <a:rPr lang="en-US" sz="1500" dirty="0"/>
              <a:t>2. </a:t>
            </a:r>
            <a:r>
              <a:rPr lang="en-US" sz="1500" dirty="0" err="1"/>
              <a:t>tv</a:t>
            </a:r>
            <a:r>
              <a:rPr lang="en-US" sz="1500" dirty="0"/>
              <a:t> / watch / they / </a:t>
            </a:r>
            <a:r>
              <a:rPr lang="en-US" sz="1500" dirty="0" smtClean="0"/>
              <a:t>sometimes</a:t>
            </a:r>
          </a:p>
          <a:p>
            <a:pPr marL="127000" indent="0">
              <a:buNone/>
            </a:pPr>
            <a:r>
              <a:rPr lang="en-US" sz="1500" dirty="0" smtClean="0"/>
              <a:t>&gt;&gt; they sometimes watch TV.</a:t>
            </a:r>
          </a:p>
          <a:p>
            <a:pPr marL="127000" indent="0">
              <a:buNone/>
            </a:pPr>
            <a:endParaRPr lang="en-US" sz="1500" dirty="0"/>
          </a:p>
          <a:p>
            <a:pPr marL="127000" indent="0">
              <a:buNone/>
            </a:pPr>
            <a:r>
              <a:rPr lang="en-US" sz="1500" dirty="0"/>
              <a:t>3. goes / night / at / bed / to / </a:t>
            </a:r>
            <a:r>
              <a:rPr lang="en-US" sz="1500" dirty="0" smtClean="0"/>
              <a:t>he</a:t>
            </a:r>
          </a:p>
          <a:p>
            <a:pPr marL="127000" indent="0">
              <a:buNone/>
            </a:pPr>
            <a:r>
              <a:rPr lang="en-US" sz="1500" dirty="0" smtClean="0"/>
              <a:t>&gt;&gt; he goes to bed at night.</a:t>
            </a:r>
          </a:p>
          <a:p>
            <a:pPr marL="127000" indent="0">
              <a:buNone/>
            </a:pPr>
            <a:endParaRPr lang="en-US" sz="1500" dirty="0"/>
          </a:p>
          <a:p>
            <a:pPr marL="127000" indent="0">
              <a:buNone/>
            </a:pPr>
            <a:r>
              <a:rPr lang="en-US" sz="1500" dirty="0"/>
              <a:t>4. often / plays / football / afternoon / in / the / </a:t>
            </a:r>
            <a:r>
              <a:rPr lang="en-US" sz="1500" dirty="0" smtClean="0"/>
              <a:t>he</a:t>
            </a:r>
          </a:p>
          <a:p>
            <a:pPr marL="127000" indent="0">
              <a:buNone/>
            </a:pPr>
            <a:r>
              <a:rPr lang="en-US" sz="1500" dirty="0" smtClean="0"/>
              <a:t>&gt;&gt; he often plays football in the afternoon.</a:t>
            </a:r>
          </a:p>
          <a:p>
            <a:pPr marL="127000" indent="0">
              <a:buNone/>
            </a:pPr>
            <a:endParaRPr lang="en-US" sz="1500" dirty="0"/>
          </a:p>
          <a:p>
            <a:pPr marL="127000" indent="0">
              <a:buNone/>
            </a:pPr>
            <a:r>
              <a:rPr lang="en-US" sz="1500" dirty="0"/>
              <a:t>5. bus / takes / school / the / to / </a:t>
            </a:r>
            <a:r>
              <a:rPr lang="en-US" sz="1500" dirty="0" smtClean="0"/>
              <a:t>he</a:t>
            </a:r>
          </a:p>
          <a:p>
            <a:pPr marL="127000" indent="0">
              <a:buNone/>
            </a:pPr>
            <a:r>
              <a:rPr lang="en-US" sz="1500" dirty="0" smtClean="0"/>
              <a:t>&gt;&gt; he takes the bus to school.</a:t>
            </a:r>
            <a:endParaRPr lang="en-US" sz="1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64000" y="228112"/>
            <a:ext cx="6363600" cy="675271"/>
          </a:xfrm>
        </p:spPr>
        <p:txBody>
          <a:bodyPr/>
          <a:lstStyle/>
          <a:p>
            <a:r>
              <a:rPr lang="en-US" dirty="0" smtClean="0"/>
              <a:t>What are the answers?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01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62" title="abstract-minimal-concept-flowers-shadows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3568" r="13561"/>
          <a:stretch/>
        </p:blipFill>
        <p:spPr>
          <a:xfrm>
            <a:off x="704000" y="1274500"/>
            <a:ext cx="3546900" cy="3244199"/>
          </a:xfrm>
          <a:prstGeom prst="rect">
            <a:avLst/>
          </a:prstGeom>
        </p:spPr>
      </p:pic>
      <p:sp>
        <p:nvSpPr>
          <p:cNvPr id="614" name="Google Shape;614;p62"/>
          <p:cNvSpPr/>
          <p:nvPr/>
        </p:nvSpPr>
        <p:spPr>
          <a:xfrm>
            <a:off x="348650" y="804585"/>
            <a:ext cx="4180934" cy="4180628"/>
          </a:xfrm>
          <a:custGeom>
            <a:avLst/>
            <a:gdLst/>
            <a:ahLst/>
            <a:cxnLst/>
            <a:rect l="l" t="t" r="r" b="b"/>
            <a:pathLst>
              <a:path w="122671" h="122671" extrusionOk="0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62"/>
          <p:cNvSpPr txBox="1">
            <a:spLocks noGrp="1"/>
          </p:cNvSpPr>
          <p:nvPr>
            <p:ph type="body" idx="1"/>
          </p:nvPr>
        </p:nvSpPr>
        <p:spPr>
          <a:xfrm>
            <a:off x="4250899" y="1369325"/>
            <a:ext cx="4529543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Simple present tense is used to say:</a:t>
            </a:r>
          </a:p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 smtClean="0"/>
              <a:t>Habits and routines (</a:t>
            </a:r>
            <a:r>
              <a:rPr lang="en-US" sz="1600" dirty="0" err="1" smtClean="0"/>
              <a:t>kegiatan</a:t>
            </a:r>
            <a:r>
              <a:rPr lang="en-US" sz="1600" dirty="0" smtClean="0"/>
              <a:t> </a:t>
            </a:r>
            <a:r>
              <a:rPr lang="en-US" sz="1600" dirty="0" err="1" smtClean="0"/>
              <a:t>sehari-hari</a:t>
            </a:r>
            <a:r>
              <a:rPr lang="en-US" sz="1600" dirty="0" smtClean="0"/>
              <a:t>)</a:t>
            </a:r>
          </a:p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 smtClean="0"/>
              <a:t>General truths and facts (</a:t>
            </a:r>
            <a:r>
              <a:rPr lang="en-US" sz="1600" dirty="0" err="1" smtClean="0"/>
              <a:t>kebenaran</a:t>
            </a:r>
            <a:r>
              <a:rPr lang="en-US" sz="1600" dirty="0" smtClean="0"/>
              <a:t> </a:t>
            </a:r>
            <a:r>
              <a:rPr lang="en-US" sz="1600" dirty="0" err="1" smtClean="0"/>
              <a:t>umum</a:t>
            </a:r>
            <a:r>
              <a:rPr lang="en-US" sz="1600" dirty="0" smtClean="0"/>
              <a:t> </a:t>
            </a:r>
            <a:r>
              <a:rPr lang="en-US" sz="1600" dirty="0" err="1" smtClean="0"/>
              <a:t>dan</a:t>
            </a:r>
            <a:r>
              <a:rPr lang="en-US" sz="1600" dirty="0" smtClean="0"/>
              <a:t> </a:t>
            </a:r>
            <a:r>
              <a:rPr lang="en-US" sz="1600" dirty="0" err="1" smtClean="0"/>
              <a:t>fakta</a:t>
            </a:r>
            <a:r>
              <a:rPr lang="en-US" sz="1600" dirty="0" smtClean="0"/>
              <a:t>)</a:t>
            </a:r>
          </a:p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 smtClean="0"/>
              <a:t>Permanent situation (</a:t>
            </a:r>
            <a:r>
              <a:rPr lang="en-US" sz="1600" dirty="0" err="1" smtClean="0"/>
              <a:t>situasi</a:t>
            </a:r>
            <a:r>
              <a:rPr lang="en-US" sz="1600" dirty="0" smtClean="0"/>
              <a:t> </a:t>
            </a:r>
            <a:r>
              <a:rPr lang="en-US" sz="1600" dirty="0" err="1" smtClean="0"/>
              <a:t>permanen</a:t>
            </a:r>
            <a:r>
              <a:rPr lang="en-US" sz="1600" dirty="0" smtClean="0"/>
              <a:t>)</a:t>
            </a:r>
          </a:p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 smtClean="0"/>
              <a:t>Schedules  (</a:t>
            </a:r>
            <a:r>
              <a:rPr lang="en-US" sz="1600" dirty="0" err="1" smtClean="0"/>
              <a:t>jadwal</a:t>
            </a:r>
            <a:r>
              <a:rPr lang="en-US" sz="1600" dirty="0" smtClean="0"/>
              <a:t>)</a:t>
            </a:r>
            <a:endParaRPr sz="1600" dirty="0"/>
          </a:p>
        </p:txBody>
      </p:sp>
      <p:sp>
        <p:nvSpPr>
          <p:cNvPr id="616" name="Google Shape;616;p62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62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62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What is </a:t>
            </a:r>
            <a:r>
              <a:rPr lang="en" dirty="0" smtClean="0"/>
              <a:t>Simple Present Tense?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28391" y="951006"/>
            <a:ext cx="7921127" cy="495758"/>
          </a:xfrm>
        </p:spPr>
        <p:txBody>
          <a:bodyPr anchor="t"/>
          <a:lstStyle/>
          <a:p>
            <a:pPr marL="127000" indent="0">
              <a:buNone/>
            </a:pPr>
            <a:r>
              <a:rPr lang="en-US" dirty="0" smtClean="0"/>
              <a:t>The sentence uses VERB. </a:t>
            </a:r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33900" y="272179"/>
            <a:ext cx="6710110" cy="609170"/>
          </a:xfrm>
        </p:spPr>
        <p:txBody>
          <a:bodyPr/>
          <a:lstStyle/>
          <a:p>
            <a:r>
              <a:rPr lang="en-US" dirty="0" smtClean="0"/>
              <a:t>Verbal Simple Present Tense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808405"/>
              </p:ext>
            </p:extLst>
          </p:nvPr>
        </p:nvGraphicFramePr>
        <p:xfrm>
          <a:off x="241952" y="1446764"/>
          <a:ext cx="8494003" cy="3627078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068904">
                  <a:extLst>
                    <a:ext uri="{9D8B030D-6E8A-4147-A177-3AD203B41FA5}">
                      <a16:colId xmlns:a16="http://schemas.microsoft.com/office/drawing/2014/main" val="515448885"/>
                    </a:ext>
                  </a:extLst>
                </a:gridCol>
                <a:gridCol w="3068875">
                  <a:extLst>
                    <a:ext uri="{9D8B030D-6E8A-4147-A177-3AD203B41FA5}">
                      <a16:colId xmlns:a16="http://schemas.microsoft.com/office/drawing/2014/main" val="3609025430"/>
                    </a:ext>
                  </a:extLst>
                </a:gridCol>
                <a:gridCol w="3356224">
                  <a:extLst>
                    <a:ext uri="{9D8B030D-6E8A-4147-A177-3AD203B41FA5}">
                      <a16:colId xmlns:a16="http://schemas.microsoft.com/office/drawing/2014/main" val="3561362810"/>
                    </a:ext>
                  </a:extLst>
                </a:gridCol>
              </a:tblGrid>
              <a:tr h="94484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Positive Sentence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/>
                        <a:t>I/YOU/THEY/WE + Verb</a:t>
                      </a:r>
                      <a:r>
                        <a:rPr lang="en-US" sz="1500" baseline="0" dirty="0" smtClean="0"/>
                        <a:t> 1</a:t>
                      </a:r>
                    </a:p>
                    <a:p>
                      <a:endParaRPr lang="en-US" sz="1500" baseline="0" dirty="0" smtClean="0"/>
                    </a:p>
                    <a:p>
                      <a:r>
                        <a:rPr lang="en-US" sz="1500" baseline="0" dirty="0" smtClean="0"/>
                        <a:t>HE/SHE/IT + Verb 1 (s/</a:t>
                      </a:r>
                      <a:r>
                        <a:rPr lang="en-US" sz="1500" baseline="0" dirty="0" err="1" smtClean="0"/>
                        <a:t>es</a:t>
                      </a:r>
                      <a:r>
                        <a:rPr lang="en-US" sz="1500" baseline="0" dirty="0" smtClean="0"/>
                        <a:t>)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rgbClr val="FFFF00"/>
                          </a:solidFill>
                        </a:rPr>
                        <a:t>I</a:t>
                      </a:r>
                      <a:r>
                        <a:rPr lang="en-US" sz="1500" dirty="0" smtClean="0"/>
                        <a:t> </a:t>
                      </a:r>
                      <a:r>
                        <a:rPr lang="en-US" sz="1500" b="1" dirty="0" smtClean="0">
                          <a:solidFill>
                            <a:srgbClr val="FF0000"/>
                          </a:solidFill>
                        </a:rPr>
                        <a:t>go</a:t>
                      </a:r>
                      <a:r>
                        <a:rPr lang="en-US" sz="1500" dirty="0" smtClean="0"/>
                        <a:t> to</a:t>
                      </a:r>
                      <a:r>
                        <a:rPr lang="en-US" sz="1500" baseline="0" dirty="0" smtClean="0"/>
                        <a:t> campus every day.</a:t>
                      </a:r>
                    </a:p>
                    <a:p>
                      <a:r>
                        <a:rPr lang="en-US" sz="1500" baseline="0" dirty="0" smtClean="0">
                          <a:solidFill>
                            <a:srgbClr val="FFFF00"/>
                          </a:solidFill>
                        </a:rPr>
                        <a:t>You</a:t>
                      </a:r>
                      <a:r>
                        <a:rPr lang="en-US" sz="1500" baseline="0" dirty="0" smtClean="0"/>
                        <a:t> always 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greet</a:t>
                      </a:r>
                      <a:r>
                        <a:rPr lang="en-US" sz="1500" baseline="0" dirty="0" smtClean="0"/>
                        <a:t> me.</a:t>
                      </a:r>
                    </a:p>
                    <a:p>
                      <a:r>
                        <a:rPr lang="en-US" sz="1500" baseline="0" dirty="0" smtClean="0">
                          <a:solidFill>
                            <a:srgbClr val="FFFF00"/>
                          </a:solidFill>
                        </a:rPr>
                        <a:t>She</a:t>
                      </a:r>
                      <a:r>
                        <a:rPr lang="en-US" sz="1500" baseline="0" dirty="0" smtClean="0"/>
                        <a:t> usually 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cleans</a:t>
                      </a:r>
                      <a:r>
                        <a:rPr lang="en-US" sz="1500" baseline="0" dirty="0" smtClean="0"/>
                        <a:t> the class.</a:t>
                      </a:r>
                    </a:p>
                    <a:p>
                      <a:r>
                        <a:rPr lang="en-US" sz="1500" baseline="0" dirty="0" smtClean="0">
                          <a:solidFill>
                            <a:srgbClr val="FFFF00"/>
                          </a:solidFill>
                        </a:rPr>
                        <a:t>He</a:t>
                      </a:r>
                      <a:r>
                        <a:rPr lang="en-US" sz="1500" baseline="0" dirty="0" smtClean="0"/>
                        <a:t> never </a:t>
                      </a:r>
                      <a:r>
                        <a:rPr lang="en-US" sz="1500" baseline="0" dirty="0" smtClean="0">
                          <a:solidFill>
                            <a:srgbClr val="FF0000"/>
                          </a:solidFill>
                        </a:rPr>
                        <a:t>cheats</a:t>
                      </a:r>
                      <a:r>
                        <a:rPr lang="en-US" sz="1500" baseline="0" dirty="0" smtClean="0"/>
                        <a:t> on his girlfriend.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49605"/>
                  </a:ext>
                </a:extLst>
              </a:tr>
              <a:tr h="1158198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smtClean="0"/>
                        <a:t>Negative</a:t>
                      </a:r>
                      <a:r>
                        <a:rPr lang="en-US" sz="1500" b="1" baseline="0" dirty="0" smtClean="0"/>
                        <a:t> Sentence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I/YOU/THEY/WE</a:t>
                      </a:r>
                      <a:r>
                        <a:rPr lang="en-US" sz="1500" b="1" baseline="0" dirty="0" smtClean="0"/>
                        <a:t> + Don’t + Verb 1</a:t>
                      </a:r>
                    </a:p>
                    <a:p>
                      <a:endParaRPr lang="en-US" sz="1500" b="1" baseline="0" dirty="0" smtClean="0"/>
                    </a:p>
                    <a:p>
                      <a:r>
                        <a:rPr lang="en-US" sz="1500" b="1" baseline="0" dirty="0" smtClean="0"/>
                        <a:t>She/He/It + Doesn’t + Verb 1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rgbClr val="FFFF00"/>
                          </a:solidFill>
                        </a:rPr>
                        <a:t>I</a:t>
                      </a:r>
                      <a:r>
                        <a:rPr lang="en-US" sz="1500" b="1" dirty="0" smtClean="0"/>
                        <a:t> </a:t>
                      </a:r>
                      <a:r>
                        <a:rPr lang="en-US" sz="1500" b="1" dirty="0" smtClean="0">
                          <a:solidFill>
                            <a:srgbClr val="00B0F0"/>
                          </a:solidFill>
                        </a:rPr>
                        <a:t>don’t</a:t>
                      </a:r>
                      <a:r>
                        <a:rPr lang="en-US" sz="1500" b="1" dirty="0" smtClean="0"/>
                        <a:t> </a:t>
                      </a:r>
                      <a:r>
                        <a:rPr lang="en-US" sz="1500" b="1" dirty="0" smtClean="0">
                          <a:solidFill>
                            <a:srgbClr val="FF0000"/>
                          </a:solidFill>
                        </a:rPr>
                        <a:t>go</a:t>
                      </a:r>
                      <a:r>
                        <a:rPr lang="en-US" sz="1500" b="1" dirty="0" smtClean="0"/>
                        <a:t> to</a:t>
                      </a:r>
                      <a:r>
                        <a:rPr lang="en-US" sz="1500" b="1" baseline="0" dirty="0" smtClean="0"/>
                        <a:t> campus every day.</a:t>
                      </a:r>
                    </a:p>
                    <a:p>
                      <a:r>
                        <a:rPr lang="en-US" sz="1500" b="1" baseline="0" dirty="0" smtClean="0">
                          <a:solidFill>
                            <a:srgbClr val="FFFF00"/>
                          </a:solidFill>
                        </a:rPr>
                        <a:t>You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00B0F0"/>
                          </a:solidFill>
                        </a:rPr>
                        <a:t>don’t</a:t>
                      </a:r>
                      <a:r>
                        <a:rPr lang="en-US" sz="1500" b="1" baseline="0" dirty="0" smtClean="0"/>
                        <a:t> always </a:t>
                      </a:r>
                      <a:r>
                        <a:rPr lang="en-US" sz="1500" b="1" baseline="0" dirty="0" smtClean="0">
                          <a:solidFill>
                            <a:srgbClr val="FF0000"/>
                          </a:solidFill>
                        </a:rPr>
                        <a:t>greet</a:t>
                      </a:r>
                      <a:r>
                        <a:rPr lang="en-US" sz="1500" b="1" baseline="0" dirty="0" smtClean="0"/>
                        <a:t> me.</a:t>
                      </a:r>
                    </a:p>
                    <a:p>
                      <a:r>
                        <a:rPr lang="en-US" sz="1500" b="1" baseline="0" dirty="0" smtClean="0">
                          <a:solidFill>
                            <a:srgbClr val="FFFF00"/>
                          </a:solidFill>
                        </a:rPr>
                        <a:t>She</a:t>
                      </a:r>
                      <a:r>
                        <a:rPr lang="en-US" sz="1500" b="1" baseline="0" dirty="0" smtClean="0"/>
                        <a:t> usually </a:t>
                      </a:r>
                      <a:r>
                        <a:rPr lang="en-US" sz="1500" b="1" baseline="0" dirty="0" smtClean="0">
                          <a:solidFill>
                            <a:srgbClr val="00B0F0"/>
                          </a:solidFill>
                        </a:rPr>
                        <a:t>doesn’t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0000"/>
                          </a:solidFill>
                        </a:rPr>
                        <a:t>clean</a:t>
                      </a:r>
                      <a:r>
                        <a:rPr lang="en-US" sz="1500" b="1" baseline="0" dirty="0" smtClean="0"/>
                        <a:t> the class.</a:t>
                      </a:r>
                    </a:p>
                    <a:p>
                      <a:r>
                        <a:rPr lang="en-US" sz="1500" b="1" baseline="0" dirty="0" smtClean="0">
                          <a:solidFill>
                            <a:srgbClr val="FFFF00"/>
                          </a:solidFill>
                        </a:rPr>
                        <a:t>He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00B0F0"/>
                          </a:solidFill>
                        </a:rPr>
                        <a:t>doesn’t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0000"/>
                          </a:solidFill>
                        </a:rPr>
                        <a:t>cheat</a:t>
                      </a:r>
                      <a:r>
                        <a:rPr lang="en-US" sz="1500" b="1" baseline="0" dirty="0" smtClean="0"/>
                        <a:t> on his girlfriend.</a:t>
                      </a:r>
                    </a:p>
                    <a:p>
                      <a:endParaRPr 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670148"/>
                  </a:ext>
                </a:extLst>
              </a:tr>
              <a:tr h="1158198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smtClean="0"/>
                        <a:t>Interrogative Sentence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/>
                        <a:t>Do + I/YOU/THEY/WE + Verb 1 +?</a:t>
                      </a:r>
                    </a:p>
                    <a:p>
                      <a:endParaRPr lang="en-US" sz="1500" b="1" dirty="0" smtClean="0"/>
                    </a:p>
                    <a:p>
                      <a:r>
                        <a:rPr lang="en-US" sz="1500" b="1" dirty="0" smtClean="0"/>
                        <a:t>Does + SHE/HE/IT</a:t>
                      </a:r>
                      <a:r>
                        <a:rPr lang="en-US" sz="1500" b="1" baseline="0" dirty="0" smtClean="0"/>
                        <a:t> + Verb 1 + ?</a:t>
                      </a:r>
                      <a:endParaRPr lang="en-U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rgbClr val="00B0F0"/>
                          </a:solidFill>
                        </a:rPr>
                        <a:t>Do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FF00"/>
                          </a:solidFill>
                        </a:rPr>
                        <a:t>you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0000"/>
                          </a:solidFill>
                        </a:rPr>
                        <a:t>go</a:t>
                      </a:r>
                      <a:r>
                        <a:rPr lang="en-US" sz="1500" b="1" baseline="0" dirty="0" smtClean="0"/>
                        <a:t> to campus every day?</a:t>
                      </a:r>
                    </a:p>
                    <a:p>
                      <a:r>
                        <a:rPr lang="en-US" sz="1500" b="1" baseline="0" dirty="0" smtClean="0">
                          <a:solidFill>
                            <a:srgbClr val="00B0F0"/>
                          </a:solidFill>
                        </a:rPr>
                        <a:t>Do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FF00"/>
                          </a:solidFill>
                        </a:rPr>
                        <a:t>they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0000"/>
                          </a:solidFill>
                        </a:rPr>
                        <a:t>visit</a:t>
                      </a:r>
                      <a:r>
                        <a:rPr lang="en-US" sz="1500" b="1" baseline="0" dirty="0" smtClean="0"/>
                        <a:t> the museum?</a:t>
                      </a:r>
                    </a:p>
                    <a:p>
                      <a:r>
                        <a:rPr lang="en-US" sz="1500" b="1" baseline="0" dirty="0" smtClean="0">
                          <a:solidFill>
                            <a:srgbClr val="00B0F0"/>
                          </a:solidFill>
                        </a:rPr>
                        <a:t>Does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FF00"/>
                          </a:solidFill>
                        </a:rPr>
                        <a:t>she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0000"/>
                          </a:solidFill>
                        </a:rPr>
                        <a:t>clean </a:t>
                      </a:r>
                      <a:r>
                        <a:rPr lang="en-US" sz="1500" b="1" baseline="0" dirty="0" smtClean="0"/>
                        <a:t>the class?</a:t>
                      </a:r>
                    </a:p>
                    <a:p>
                      <a:r>
                        <a:rPr lang="en-US" sz="1500" b="1" baseline="0" dirty="0" smtClean="0">
                          <a:solidFill>
                            <a:srgbClr val="00B0F0"/>
                          </a:solidFill>
                        </a:rPr>
                        <a:t>Does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FF00"/>
                          </a:solidFill>
                        </a:rPr>
                        <a:t>he</a:t>
                      </a:r>
                      <a:r>
                        <a:rPr lang="en-US" sz="1500" b="1" baseline="0" dirty="0" smtClean="0"/>
                        <a:t> </a:t>
                      </a:r>
                      <a:r>
                        <a:rPr lang="en-US" sz="1500" b="1" baseline="0" dirty="0" smtClean="0">
                          <a:solidFill>
                            <a:srgbClr val="FF0000"/>
                          </a:solidFill>
                        </a:rPr>
                        <a:t>cheat </a:t>
                      </a:r>
                      <a:r>
                        <a:rPr lang="en-US" sz="1500" b="1" baseline="0" dirty="0" smtClean="0"/>
                        <a:t>on his girlfriend?</a:t>
                      </a:r>
                      <a:endParaRPr 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81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18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4100" y="217095"/>
            <a:ext cx="6363600" cy="554086"/>
          </a:xfrm>
        </p:spPr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59028" y="771181"/>
            <a:ext cx="76570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 ___ to music every night. (listen / listens)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___ in a big house. (live / lives)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___ not go to school on Sunday. (do / does)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___ he like pizza? (Do / Does)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___ (study) English every day.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train ___ (leave) at 9:00 a.m.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teacher ___ (not give) us homework on Friday.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Birds ___ (fly) in the sky.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___ your mother ___ (cook) dinner every evening?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He ___ (not play) football on Sundays.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9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7635" y="789234"/>
            <a:ext cx="6223800" cy="480051"/>
          </a:xfrm>
        </p:spPr>
        <p:txBody>
          <a:bodyPr anchor="t"/>
          <a:lstStyle/>
          <a:p>
            <a:pPr marL="127000" indent="0">
              <a:buNone/>
            </a:pPr>
            <a:r>
              <a:rPr lang="en-US" dirty="0" smtClean="0"/>
              <a:t>The sentence uses NOUN/ADJECTIVES/ADVERBS.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4235" y="128960"/>
            <a:ext cx="7106717" cy="734164"/>
          </a:xfrm>
        </p:spPr>
        <p:txBody>
          <a:bodyPr/>
          <a:lstStyle/>
          <a:p>
            <a:r>
              <a:rPr lang="en-US" dirty="0" smtClean="0"/>
              <a:t>Nominal Simple Present Tense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4235" y="1292497"/>
            <a:ext cx="4340647" cy="146832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(+) Subject + To Be (Is/Am/Are) + N/</a:t>
            </a:r>
            <a:r>
              <a:rPr lang="en-US" dirty="0" err="1" smtClean="0"/>
              <a:t>Adj</a:t>
            </a:r>
            <a:r>
              <a:rPr lang="en-US" dirty="0" smtClean="0"/>
              <a:t>/</a:t>
            </a:r>
            <a:r>
              <a:rPr lang="en-US" dirty="0" err="1" smtClean="0"/>
              <a:t>Adv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(-) Subject + To Be (Is/Am/Are) + NOT + N/</a:t>
            </a:r>
            <a:r>
              <a:rPr lang="en-US" dirty="0" err="1" smtClean="0"/>
              <a:t>Adj</a:t>
            </a:r>
            <a:r>
              <a:rPr lang="en-US" dirty="0" smtClean="0"/>
              <a:t>/</a:t>
            </a:r>
            <a:r>
              <a:rPr lang="en-US" dirty="0" err="1" smtClean="0"/>
              <a:t>Adv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(?) </a:t>
            </a:r>
            <a:r>
              <a:rPr lang="en-US" dirty="0"/>
              <a:t>To Be (Is/Am/Are) + </a:t>
            </a:r>
            <a:r>
              <a:rPr lang="en-US" dirty="0" smtClean="0"/>
              <a:t>Subject + N/</a:t>
            </a:r>
            <a:r>
              <a:rPr lang="en-US" dirty="0" err="1" smtClean="0"/>
              <a:t>Adj</a:t>
            </a:r>
            <a:r>
              <a:rPr lang="en-US" dirty="0" smtClean="0"/>
              <a:t>/</a:t>
            </a:r>
            <a:r>
              <a:rPr lang="en-US" dirty="0" err="1" smtClean="0"/>
              <a:t>Adv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2" descr="https://www.yec.co.id/wp-content/uploads/2018/09/Captur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882" y="1269285"/>
            <a:ext cx="4570661" cy="224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07635" y="3404212"/>
            <a:ext cx="4727073" cy="173928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Examples:</a:t>
            </a:r>
          </a:p>
          <a:p>
            <a:endParaRPr lang="en-US" dirty="0"/>
          </a:p>
          <a:p>
            <a:r>
              <a:rPr lang="en-US" dirty="0" smtClean="0"/>
              <a:t>I am a student.	You are not rich.</a:t>
            </a:r>
          </a:p>
          <a:p>
            <a:endParaRPr lang="en-US" dirty="0"/>
          </a:p>
          <a:p>
            <a:r>
              <a:rPr lang="en-US" dirty="0" smtClean="0"/>
              <a:t>She is very tall.	He is not my friend.</a:t>
            </a:r>
          </a:p>
          <a:p>
            <a:endParaRPr lang="en-US" dirty="0"/>
          </a:p>
          <a:p>
            <a:r>
              <a:rPr lang="en-US" dirty="0" smtClean="0"/>
              <a:t>They are in the campus. 	We are not in the mall.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28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2"/>
          <p:cNvSpPr txBox="1">
            <a:spLocks noGrp="1"/>
          </p:cNvSpPr>
          <p:nvPr>
            <p:ph type="body" idx="1"/>
          </p:nvPr>
        </p:nvSpPr>
        <p:spPr>
          <a:xfrm>
            <a:off x="4996543" y="1391096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/>
              <a:t>I usually wake up before 6 a.m. on weekdays</a:t>
            </a:r>
            <a:r>
              <a:rPr lang="en-US" sz="16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/>
              <a:t>I often read before going to bed</a:t>
            </a:r>
            <a:r>
              <a:rPr lang="en-US" sz="16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/>
              <a:t>She always takes the bus to school</a:t>
            </a:r>
            <a:r>
              <a:rPr lang="en-US" sz="16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/>
              <a:t>We rarely eat fast food because my dad likes cooking.</a:t>
            </a:r>
            <a:endParaRPr lang="en-US" sz="1600" dirty="0" smtClean="0"/>
          </a:p>
        </p:txBody>
      </p:sp>
      <p:sp>
        <p:nvSpPr>
          <p:cNvPr id="618" name="Google Shape;618;p62"/>
          <p:cNvSpPr txBox="1">
            <a:spLocks noGrp="1"/>
          </p:cNvSpPr>
          <p:nvPr>
            <p:ph type="title"/>
          </p:nvPr>
        </p:nvSpPr>
        <p:spPr>
          <a:xfrm>
            <a:off x="752582" y="154672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Adverb of Frequency</a:t>
            </a:r>
            <a:endParaRPr dirty="0"/>
          </a:p>
        </p:txBody>
      </p:sp>
      <p:pic>
        <p:nvPicPr>
          <p:cNvPr id="3074" name="Picture 2" descr="https://i0.wp.com/www.learnenglishteam.com/wp-content/uploads/2024/12/Present-simple-frequency-adverbs-infographic-worksheet.png?resize=600%2C1109&amp;ssl=1"/>
          <p:cNvPicPr>
            <a:picLocks noGrp="1" noChangeAspect="1" noChangeArrowheads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72" b="25272"/>
          <a:stretch>
            <a:fillRect/>
          </a:stretch>
        </p:blipFill>
        <p:spPr bwMode="auto">
          <a:xfrm>
            <a:off x="752582" y="1017668"/>
            <a:ext cx="3546900" cy="370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2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4100" y="217095"/>
            <a:ext cx="6363600" cy="554086"/>
          </a:xfrm>
        </p:spPr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3214" y="1090670"/>
            <a:ext cx="7722823" cy="2058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36" y="854036"/>
            <a:ext cx="8868578" cy="408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9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7293" y="84894"/>
            <a:ext cx="6363600" cy="454933"/>
          </a:xfrm>
        </p:spPr>
        <p:txBody>
          <a:bodyPr/>
          <a:lstStyle/>
          <a:p>
            <a:r>
              <a:rPr lang="en-US" dirty="0" smtClean="0"/>
              <a:t>Translate into English!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7293" y="620475"/>
            <a:ext cx="728298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Saya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biasanya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bangun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jam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perempuan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tidak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suka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kopi.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Kami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selalu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belajar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bahasa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Inggris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Mereka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bermain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bola di sore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Ayahku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menonton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televisi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setiap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malam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Apakah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kamu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pergi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kampus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setiap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laki-laki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tinggal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Jakarta.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nn-NO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Mereka tidak sibuk hari ini</a:t>
            </a:r>
            <a:r>
              <a:rPr lang="nn-NO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Mobil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ini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baru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Apakah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kalian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senang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?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2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62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2" y="1023257"/>
            <a:ext cx="4376056" cy="37005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15" name="Google Shape;615;p62"/>
          <p:cNvSpPr txBox="1">
            <a:spLocks noGrp="1"/>
          </p:cNvSpPr>
          <p:nvPr>
            <p:ph type="body" idx="1"/>
          </p:nvPr>
        </p:nvSpPr>
        <p:spPr>
          <a:xfrm>
            <a:off x="4996543" y="1391096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lnSpc>
                <a:spcPct val="150000"/>
              </a:lnSpc>
              <a:buSzPts val="1100"/>
            </a:pPr>
            <a:r>
              <a:rPr lang="en-US" sz="1600" dirty="0" smtClean="0"/>
              <a:t>Note:</a:t>
            </a:r>
          </a:p>
          <a:p>
            <a:pPr marL="285750" indent="-285750" algn="just">
              <a:lnSpc>
                <a:spcPct val="150000"/>
              </a:lnSpc>
              <a:buSzPts val="1100"/>
            </a:pPr>
            <a:endParaRPr lang="en-US" sz="1600" dirty="0"/>
          </a:p>
          <a:p>
            <a:pPr marL="0" indent="0" algn="just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I/YOU/THEY/WE &gt;&gt;&gt; V1/ DO</a:t>
            </a:r>
          </a:p>
          <a:p>
            <a:pPr marL="0" indent="0" algn="just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HE/SHE/IT &gt;&gt;&gt; V1 s/</a:t>
            </a:r>
            <a:r>
              <a:rPr lang="en-US" sz="1600" dirty="0" err="1" smtClean="0"/>
              <a:t>es</a:t>
            </a:r>
            <a:r>
              <a:rPr lang="en-US" sz="1600" dirty="0" smtClean="0"/>
              <a:t> / DOES</a:t>
            </a:r>
          </a:p>
          <a:p>
            <a:pPr marL="0" indent="0" algn="just">
              <a:lnSpc>
                <a:spcPct val="150000"/>
              </a:lnSpc>
              <a:buSzPts val="1100"/>
              <a:buNone/>
            </a:pPr>
            <a:endParaRPr lang="en-US" sz="1600" dirty="0"/>
          </a:p>
          <a:p>
            <a:pPr marL="0" indent="0" algn="just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Ex:</a:t>
            </a:r>
          </a:p>
          <a:p>
            <a:pPr marL="285750" indent="-285750" algn="just">
              <a:lnSpc>
                <a:spcPct val="150000"/>
              </a:lnSpc>
              <a:buSzPts val="1100"/>
              <a:buFontTx/>
              <a:buChar char="-"/>
            </a:pPr>
            <a:r>
              <a:rPr lang="en-US" sz="1600" dirty="0" smtClean="0"/>
              <a:t>We don’t watch horror movies.</a:t>
            </a:r>
          </a:p>
          <a:p>
            <a:pPr marL="285750" indent="-285750" algn="just">
              <a:lnSpc>
                <a:spcPct val="150000"/>
              </a:lnSpc>
              <a:buSzPts val="1100"/>
              <a:buFontTx/>
              <a:buChar char="-"/>
            </a:pPr>
            <a:r>
              <a:rPr lang="en-US" sz="1600" dirty="0" smtClean="0"/>
              <a:t>She washes the dishes every day.</a:t>
            </a:r>
          </a:p>
        </p:txBody>
      </p:sp>
      <p:sp>
        <p:nvSpPr>
          <p:cNvPr id="618" name="Google Shape;618;p62"/>
          <p:cNvSpPr txBox="1">
            <a:spLocks noGrp="1"/>
          </p:cNvSpPr>
          <p:nvPr>
            <p:ph type="title"/>
          </p:nvPr>
        </p:nvSpPr>
        <p:spPr>
          <a:xfrm>
            <a:off x="752582" y="154672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Verbal Simple </a:t>
            </a:r>
            <a:r>
              <a:rPr lang="en" dirty="0" smtClean="0"/>
              <a:t>Present Tense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169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1064000" y="279918"/>
            <a:ext cx="6363600" cy="9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Vocabularies</a:t>
            </a:r>
            <a:endParaRPr dirty="0"/>
          </a:p>
        </p:txBody>
      </p:sp>
      <p:sp>
        <p:nvSpPr>
          <p:cNvPr id="624" name="Google Shape;624;p63"/>
          <p:cNvSpPr txBox="1">
            <a:spLocks noGrp="1"/>
          </p:cNvSpPr>
          <p:nvPr>
            <p:ph type="body" idx="1"/>
          </p:nvPr>
        </p:nvSpPr>
        <p:spPr>
          <a:xfrm>
            <a:off x="1133900" y="1180218"/>
            <a:ext cx="6932414" cy="3041107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Wake up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Wash </a:t>
            </a:r>
            <a:r>
              <a:rPr lang="en-US" sz="1600" dirty="0"/>
              <a:t>your </a:t>
            </a:r>
            <a:r>
              <a:rPr lang="en-US" sz="1600" dirty="0" smtClean="0"/>
              <a:t>face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Take </a:t>
            </a:r>
            <a:r>
              <a:rPr lang="en-US" sz="1600" dirty="0"/>
              <a:t>a </a:t>
            </a:r>
            <a:r>
              <a:rPr lang="en-US" sz="1600" dirty="0" smtClean="0"/>
              <a:t>bath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Dry </a:t>
            </a:r>
            <a:r>
              <a:rPr lang="en-US" sz="1600" dirty="0"/>
              <a:t>your </a:t>
            </a:r>
            <a:r>
              <a:rPr lang="en-US" sz="1600" dirty="0" smtClean="0"/>
              <a:t>hair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Brush </a:t>
            </a:r>
            <a:r>
              <a:rPr lang="en-US" sz="1600" dirty="0"/>
              <a:t>your </a:t>
            </a:r>
            <a:r>
              <a:rPr lang="en-US" sz="1600" dirty="0" smtClean="0"/>
              <a:t>teeth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Eat breakfast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Get dressed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Make </a:t>
            </a:r>
            <a:r>
              <a:rPr lang="en-US" sz="1600" dirty="0"/>
              <a:t>your </a:t>
            </a:r>
            <a:r>
              <a:rPr lang="en-US" sz="1600" dirty="0" smtClean="0"/>
              <a:t>bed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 </a:t>
            </a:r>
            <a:r>
              <a:rPr lang="en-US" sz="1600" dirty="0"/>
              <a:t>Go to </a:t>
            </a:r>
            <a:r>
              <a:rPr lang="en-US" sz="1600" dirty="0" smtClean="0"/>
              <a:t>school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Study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Have lunch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Get home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Do </a:t>
            </a:r>
            <a:r>
              <a:rPr lang="en-US" sz="1600" dirty="0"/>
              <a:t>your </a:t>
            </a:r>
            <a:r>
              <a:rPr lang="en-US" sz="1600" dirty="0" smtClean="0"/>
              <a:t>homework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Have dinner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Go </a:t>
            </a:r>
            <a:r>
              <a:rPr lang="en-US" sz="1600" dirty="0"/>
              <a:t>to sleep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909423" y="149289"/>
            <a:ext cx="6363600" cy="525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Skim the texts below!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" t="-1850" r="2220" b="1850"/>
          <a:stretch/>
        </p:blipFill>
        <p:spPr>
          <a:xfrm>
            <a:off x="76201" y="674914"/>
            <a:ext cx="5976257" cy="31537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91943" y="794657"/>
            <a:ext cx="2525486" cy="3973286"/>
          </a:xfrm>
          <a:prstGeom prst="rect">
            <a:avLst/>
          </a:prstGeom>
          <a:solidFill>
            <a:schemeClr val="accent4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What time does the speaker wake up</a:t>
            </a:r>
            <a:r>
              <a:rPr lang="en-US" dirty="0" smtClean="0"/>
              <a:t>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How does the speaker go to college</a:t>
            </a:r>
            <a:r>
              <a:rPr lang="en-US" dirty="0" smtClean="0"/>
              <a:t>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What does the speaker often do in the afternoon</a:t>
            </a:r>
            <a:r>
              <a:rPr lang="en-US" dirty="0" smtClean="0"/>
              <a:t>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What does the speaker sometimes do instead of going to the beach</a:t>
            </a:r>
            <a:r>
              <a:rPr lang="en-US" dirty="0" smtClean="0"/>
              <a:t>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What time does the speaker go to bed?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427" y="4038599"/>
            <a:ext cx="4223657" cy="4789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Which tense is used?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40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1064000" y="116633"/>
            <a:ext cx="6363600" cy="6671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Exercise</a:t>
            </a:r>
            <a:endParaRPr dirty="0"/>
          </a:p>
        </p:txBody>
      </p:sp>
      <p:sp>
        <p:nvSpPr>
          <p:cNvPr id="624" name="Google Shape;624;p63"/>
          <p:cNvSpPr txBox="1">
            <a:spLocks noGrp="1"/>
          </p:cNvSpPr>
          <p:nvPr>
            <p:ph type="body" idx="1"/>
          </p:nvPr>
        </p:nvSpPr>
        <p:spPr>
          <a:xfrm>
            <a:off x="1133900" y="1180218"/>
            <a:ext cx="6932414" cy="3041107"/>
          </a:xfrm>
          <a:prstGeom prst="rect">
            <a:avLst/>
          </a:prstGeom>
        </p:spPr>
        <p:txBody>
          <a:bodyPr spcFirstLastPara="1" wrap="square" lIns="91425" tIns="91425" rIns="91425" bIns="91425" numCol="1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" y="783771"/>
            <a:ext cx="8077199" cy="43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7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7"/>
          <p:cNvSpPr txBox="1">
            <a:spLocks noGrp="1"/>
          </p:cNvSpPr>
          <p:nvPr>
            <p:ph type="title"/>
          </p:nvPr>
        </p:nvSpPr>
        <p:spPr>
          <a:xfrm>
            <a:off x="723300" y="427257"/>
            <a:ext cx="6137400" cy="17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Describing school and workplace</a:t>
            </a:r>
            <a:endParaRPr b="1" dirty="0"/>
          </a:p>
        </p:txBody>
      </p:sp>
      <p:sp>
        <p:nvSpPr>
          <p:cNvPr id="666" name="Google Shape;666;p67"/>
          <p:cNvSpPr txBox="1">
            <a:spLocks noGrp="1"/>
          </p:cNvSpPr>
          <p:nvPr>
            <p:ph type="subTitle" idx="1"/>
          </p:nvPr>
        </p:nvSpPr>
        <p:spPr>
          <a:xfrm>
            <a:off x="723300" y="2550843"/>
            <a:ext cx="6700757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dirty="0"/>
              <a:t>Describing a school or workplace means giving information about its location, size, facilities, people, activities, and atmosphere. It’s a descriptive task that combines factual details with personal impressions.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1064000" y="116633"/>
            <a:ext cx="6363600" cy="6671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Vocabularies</a:t>
            </a:r>
            <a:endParaRPr dirty="0"/>
          </a:p>
        </p:txBody>
      </p:sp>
      <p:sp>
        <p:nvSpPr>
          <p:cNvPr id="624" name="Google Shape;624;p63"/>
          <p:cNvSpPr txBox="1">
            <a:spLocks noGrp="1"/>
          </p:cNvSpPr>
          <p:nvPr>
            <p:ph type="body" idx="1"/>
          </p:nvPr>
        </p:nvSpPr>
        <p:spPr>
          <a:xfrm>
            <a:off x="327546" y="1043079"/>
            <a:ext cx="8297839" cy="3952001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Lecture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Subject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Major/Department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Dormitory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Tuition Fee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Short Course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State School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State University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Private University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err="1" smtClean="0"/>
              <a:t>Gpa</a:t>
            </a:r>
            <a:r>
              <a:rPr lang="en-US" sz="1600" dirty="0" smtClean="0"/>
              <a:t> </a:t>
            </a:r>
            <a:r>
              <a:rPr lang="en-US" sz="1600" dirty="0"/>
              <a:t>(Grade Point </a:t>
            </a:r>
            <a:r>
              <a:rPr lang="en-US" sz="1600" dirty="0" smtClean="0"/>
              <a:t>Average)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Boarding School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Field Work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Internship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Bachelor Degree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Post </a:t>
            </a:r>
            <a:r>
              <a:rPr lang="en-US" sz="1600" dirty="0"/>
              <a:t>Graduate </a:t>
            </a:r>
            <a:r>
              <a:rPr lang="en-US" sz="1600" dirty="0" smtClean="0"/>
              <a:t>Program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Graduation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Report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Research Paper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Assignments</a:t>
            </a:r>
          </a:p>
          <a:p>
            <a:pPr marL="342900" lvl="0" indent="-342900">
              <a:lnSpc>
                <a:spcPct val="150000"/>
              </a:lnSpc>
              <a:buSzPts val="1100"/>
              <a:buFont typeface="+mj-lt"/>
              <a:buAutoNum type="arabicPeriod"/>
            </a:pPr>
            <a:r>
              <a:rPr lang="en-US" sz="1600" dirty="0" smtClean="0"/>
              <a:t>Schedule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317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1064000" y="116633"/>
            <a:ext cx="6363600" cy="6671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Role-play</a:t>
            </a:r>
            <a:endParaRPr dirty="0"/>
          </a:p>
        </p:txBody>
      </p:sp>
      <p:sp>
        <p:nvSpPr>
          <p:cNvPr id="624" name="Google Shape;624;p63"/>
          <p:cNvSpPr txBox="1">
            <a:spLocks noGrp="1"/>
          </p:cNvSpPr>
          <p:nvPr>
            <p:ph type="body" idx="1"/>
          </p:nvPr>
        </p:nvSpPr>
        <p:spPr>
          <a:xfrm>
            <a:off x="327546" y="1043079"/>
            <a:ext cx="8297839" cy="3952001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James : Hello my name is </a:t>
            </a:r>
            <a:r>
              <a:rPr lang="en-US" sz="1600" dirty="0" smtClean="0"/>
              <a:t>James.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err="1" smtClean="0"/>
              <a:t>Diah</a:t>
            </a:r>
            <a:r>
              <a:rPr lang="en-US" sz="1600" dirty="0" smtClean="0"/>
              <a:t> </a:t>
            </a:r>
            <a:r>
              <a:rPr lang="en-US" sz="1600" dirty="0"/>
              <a:t>: Hello James. My name is </a:t>
            </a:r>
            <a:r>
              <a:rPr lang="en-US" sz="1600" dirty="0" err="1"/>
              <a:t>Diah</a:t>
            </a:r>
            <a:r>
              <a:rPr lang="en-US" sz="1600" dirty="0"/>
              <a:t>. </a:t>
            </a:r>
            <a:endParaRPr lang="en-US" sz="1600" dirty="0" smtClean="0"/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Nice </a:t>
            </a:r>
            <a:r>
              <a:rPr lang="en-US" sz="1600" dirty="0"/>
              <a:t>to meet </a:t>
            </a:r>
            <a:r>
              <a:rPr lang="en-US" sz="1600" dirty="0" smtClean="0"/>
              <a:t>you.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James </a:t>
            </a:r>
            <a:r>
              <a:rPr lang="en-US" sz="1600" dirty="0"/>
              <a:t>: Nice to meet you </a:t>
            </a:r>
            <a:r>
              <a:rPr lang="en-US" sz="1600" dirty="0" smtClean="0"/>
              <a:t>too.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err="1" smtClean="0"/>
              <a:t>Diah</a:t>
            </a:r>
            <a:r>
              <a:rPr lang="en-US" sz="1600" dirty="0" smtClean="0"/>
              <a:t> </a:t>
            </a:r>
            <a:r>
              <a:rPr lang="en-US" sz="1600" dirty="0"/>
              <a:t>: Are you in a </a:t>
            </a:r>
            <a:r>
              <a:rPr lang="en-US" sz="1600" dirty="0" smtClean="0"/>
              <a:t>vacation?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James </a:t>
            </a:r>
            <a:r>
              <a:rPr lang="en-US" sz="1600" dirty="0"/>
              <a:t>: Yes, This is my first visit to </a:t>
            </a:r>
            <a:r>
              <a:rPr lang="en-US" sz="1600" dirty="0" err="1" smtClean="0"/>
              <a:t>indonesia</a:t>
            </a:r>
            <a:r>
              <a:rPr lang="en-US" sz="1600" dirty="0" smtClean="0"/>
              <a:t>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err="1" smtClean="0"/>
              <a:t>Diah</a:t>
            </a:r>
            <a:r>
              <a:rPr lang="en-US" sz="1600" dirty="0" smtClean="0"/>
              <a:t> </a:t>
            </a:r>
            <a:r>
              <a:rPr lang="en-US" sz="1600" dirty="0"/>
              <a:t>: Wow great. Where are you </a:t>
            </a:r>
            <a:r>
              <a:rPr lang="en-US" sz="1600" dirty="0" smtClean="0"/>
              <a:t>from?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James </a:t>
            </a:r>
            <a:r>
              <a:rPr lang="en-US" sz="1600" dirty="0"/>
              <a:t>: I’m from U.S. Well, do you work or are you </a:t>
            </a:r>
            <a:r>
              <a:rPr lang="en-US" sz="1600" dirty="0" smtClean="0"/>
              <a:t>a student?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err="1" smtClean="0"/>
              <a:t>Diah</a:t>
            </a:r>
            <a:r>
              <a:rPr lang="en-US" sz="1600" dirty="0" smtClean="0"/>
              <a:t> </a:t>
            </a:r>
            <a:r>
              <a:rPr lang="en-US" sz="1600" dirty="0"/>
              <a:t>: I’m a student at </a:t>
            </a:r>
            <a:r>
              <a:rPr lang="en-US" sz="1600" dirty="0" err="1"/>
              <a:t>Muhammadiyah</a:t>
            </a:r>
            <a:r>
              <a:rPr lang="en-US" sz="1600" dirty="0"/>
              <a:t> University </a:t>
            </a:r>
            <a:r>
              <a:rPr lang="en-US" sz="1600" dirty="0" smtClean="0"/>
              <a:t>of Surakarta.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James </a:t>
            </a:r>
            <a:r>
              <a:rPr lang="en-US" sz="1600" dirty="0"/>
              <a:t>: What are you </a:t>
            </a:r>
            <a:r>
              <a:rPr lang="en-US" sz="1600" dirty="0" smtClean="0"/>
              <a:t>studying?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err="1" smtClean="0"/>
              <a:t>Diah</a:t>
            </a:r>
            <a:r>
              <a:rPr lang="en-US" sz="1600" dirty="0" smtClean="0"/>
              <a:t> </a:t>
            </a:r>
            <a:r>
              <a:rPr lang="en-US" sz="1600" dirty="0"/>
              <a:t>: I’m studying nursing science. How about you? </a:t>
            </a:r>
            <a:r>
              <a:rPr lang="en-US" sz="1600" dirty="0" smtClean="0"/>
              <a:t>Are you </a:t>
            </a:r>
            <a:r>
              <a:rPr lang="en-US" sz="1600" dirty="0"/>
              <a:t>a </a:t>
            </a:r>
            <a:r>
              <a:rPr lang="en-US" sz="1600" dirty="0" smtClean="0"/>
              <a:t>student?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 smtClean="0"/>
              <a:t>James </a:t>
            </a:r>
            <a:r>
              <a:rPr lang="en-US" sz="1600" dirty="0"/>
              <a:t>: Yes, I am studying </a:t>
            </a:r>
            <a:r>
              <a:rPr lang="en-US" sz="1600" dirty="0" smtClean="0"/>
              <a:t>anthropology.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72178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1064000" y="116633"/>
            <a:ext cx="6363600" cy="6671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Role-play</a:t>
            </a:r>
            <a:endParaRPr dirty="0"/>
          </a:p>
        </p:txBody>
      </p:sp>
      <p:sp>
        <p:nvSpPr>
          <p:cNvPr id="624" name="Google Shape;624;p63"/>
          <p:cNvSpPr txBox="1">
            <a:spLocks noGrp="1"/>
          </p:cNvSpPr>
          <p:nvPr>
            <p:ph type="body" idx="1"/>
          </p:nvPr>
        </p:nvSpPr>
        <p:spPr>
          <a:xfrm>
            <a:off x="327546" y="1043079"/>
            <a:ext cx="8297839" cy="3952001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Caitlyn : What do you do?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Barry : I’m a doctor.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Caitlyn : oh, where do you work?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Barry : I work at Central Hospital.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Caitlyn : Oh, really? Where is that?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Barry : It is in Starling City. Where do you work?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Caitlyn : I work for Queen Industries. I am a secretary.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Barry : how do like it?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/>
              <a:t>Caitlyn : it’s OK.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69468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4100" y="171548"/>
            <a:ext cx="6363600" cy="538136"/>
          </a:xfrm>
        </p:spPr>
        <p:txBody>
          <a:bodyPr/>
          <a:lstStyle/>
          <a:p>
            <a:r>
              <a:rPr lang="en-US" b="1" dirty="0" smtClean="0"/>
              <a:t>Expressions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026468"/>
              </p:ext>
            </p:extLst>
          </p:nvPr>
        </p:nvGraphicFramePr>
        <p:xfrm>
          <a:off x="855258" y="1031069"/>
          <a:ext cx="7524466" cy="3876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62233">
                  <a:extLst>
                    <a:ext uri="{9D8B030D-6E8A-4147-A177-3AD203B41FA5}">
                      <a16:colId xmlns:a16="http://schemas.microsoft.com/office/drawing/2014/main" val="621545881"/>
                    </a:ext>
                  </a:extLst>
                </a:gridCol>
                <a:gridCol w="3762233">
                  <a:extLst>
                    <a:ext uri="{9D8B030D-6E8A-4147-A177-3AD203B41FA5}">
                      <a16:colId xmlns:a16="http://schemas.microsoft.com/office/drawing/2014/main" val="3633678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Expressions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Responses</a:t>
                      </a:r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45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What are you studying?</a:t>
                      </a:r>
                    </a:p>
                    <a:p>
                      <a:r>
                        <a:rPr lang="en-US" sz="1600" dirty="0" smtClean="0"/>
                        <a:t>What are you majoring in?</a:t>
                      </a:r>
                    </a:p>
                    <a:p>
                      <a:r>
                        <a:rPr lang="en-US" sz="1600" dirty="0" smtClean="0"/>
                        <a:t>Where is your class?</a:t>
                      </a:r>
                    </a:p>
                    <a:p>
                      <a:r>
                        <a:rPr lang="en-US" sz="1600" dirty="0" smtClean="0"/>
                        <a:t>What is your favorite subject?</a:t>
                      </a:r>
                    </a:p>
                    <a:p>
                      <a:r>
                        <a:rPr lang="en-US" sz="1600" dirty="0" smtClean="0"/>
                        <a:t>Which subjects are you good at?</a:t>
                      </a:r>
                    </a:p>
                    <a:p>
                      <a:r>
                        <a:rPr lang="en-US" sz="1600" dirty="0" smtClean="0"/>
                        <a:t>Which subjects are you poor at?</a:t>
                      </a:r>
                    </a:p>
                    <a:p>
                      <a:r>
                        <a:rPr lang="en-US" sz="1600" dirty="0" smtClean="0"/>
                        <a:t>What's your father’s occupation? </a:t>
                      </a:r>
                    </a:p>
                    <a:p>
                      <a:r>
                        <a:rPr lang="en-US" sz="1600" dirty="0" smtClean="0"/>
                        <a:t>What do you do?</a:t>
                      </a:r>
                    </a:p>
                    <a:p>
                      <a:r>
                        <a:rPr lang="en-US" sz="1600" dirty="0" smtClean="0"/>
                        <a:t>What job do you want to have in five years’ time? </a:t>
                      </a:r>
                    </a:p>
                    <a:p>
                      <a:r>
                        <a:rPr lang="en-US" sz="1600" dirty="0" smtClean="0"/>
                        <a:t>Where do you work? </a:t>
                      </a:r>
                    </a:p>
                    <a:p>
                      <a:r>
                        <a:rPr lang="en-US" sz="1600" dirty="0" smtClean="0"/>
                        <a:t>What time do your start and finish work?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I’m studying English</a:t>
                      </a:r>
                      <a:r>
                        <a:rPr lang="en-US" sz="1600" baseline="0" dirty="0" smtClean="0"/>
                        <a:t> Literature.</a:t>
                      </a:r>
                      <a:endParaRPr lang="en-US" sz="1600" dirty="0" smtClean="0"/>
                    </a:p>
                    <a:p>
                      <a:r>
                        <a:rPr lang="en-US" sz="1600" dirty="0" smtClean="0"/>
                        <a:t>I’m majoring in English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education.</a:t>
                      </a:r>
                    </a:p>
                    <a:p>
                      <a:r>
                        <a:rPr lang="en-US" sz="1600" dirty="0" smtClean="0"/>
                        <a:t>My class is on the third floor.</a:t>
                      </a:r>
                    </a:p>
                    <a:p>
                      <a:r>
                        <a:rPr lang="en-US" sz="1600" dirty="0" smtClean="0"/>
                        <a:t>My favorite subject is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Geometry.</a:t>
                      </a:r>
                    </a:p>
                    <a:p>
                      <a:r>
                        <a:rPr lang="en-US" sz="1600" dirty="0" smtClean="0"/>
                        <a:t>I’m good at English.</a:t>
                      </a:r>
                    </a:p>
                    <a:p>
                      <a:r>
                        <a:rPr lang="en-US" sz="1600" dirty="0" smtClean="0"/>
                        <a:t>I’m poor at Mathematics.</a:t>
                      </a:r>
                    </a:p>
                    <a:p>
                      <a:r>
                        <a:rPr lang="en-US" sz="1600" dirty="0" smtClean="0"/>
                        <a:t>My father is a doctor.</a:t>
                      </a:r>
                    </a:p>
                    <a:p>
                      <a:r>
                        <a:rPr lang="en-US" sz="1600" dirty="0" smtClean="0"/>
                        <a:t>I am a teacher.</a:t>
                      </a:r>
                    </a:p>
                    <a:p>
                      <a:r>
                        <a:rPr lang="en-US" sz="1600" dirty="0" smtClean="0"/>
                        <a:t>I want to run my own company.</a:t>
                      </a:r>
                    </a:p>
                    <a:p>
                      <a:endParaRPr lang="en-US" sz="1600" dirty="0" smtClean="0"/>
                    </a:p>
                    <a:p>
                      <a:r>
                        <a:rPr lang="en-US" sz="1600" dirty="0" smtClean="0"/>
                        <a:t>I work for government office</a:t>
                      </a:r>
                    </a:p>
                    <a:p>
                      <a:r>
                        <a:rPr lang="en-US" sz="1600" dirty="0" smtClean="0"/>
                        <a:t>I start working at 8 and finish</a:t>
                      </a:r>
                    </a:p>
                    <a:p>
                      <a:r>
                        <a:rPr lang="en-US" sz="1600" dirty="0" smtClean="0"/>
                        <a:t>at 4 p.m.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54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91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1064000" y="116633"/>
            <a:ext cx="6363600" cy="6671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Exercise</a:t>
            </a:r>
            <a:endParaRPr dirty="0"/>
          </a:p>
        </p:txBody>
      </p:sp>
      <p:sp>
        <p:nvSpPr>
          <p:cNvPr id="624" name="Google Shape;624;p63"/>
          <p:cNvSpPr txBox="1">
            <a:spLocks noGrp="1"/>
          </p:cNvSpPr>
          <p:nvPr>
            <p:ph type="body" idx="1"/>
          </p:nvPr>
        </p:nvSpPr>
        <p:spPr>
          <a:xfrm>
            <a:off x="327546" y="1043079"/>
            <a:ext cx="8297839" cy="3952001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600" dirty="0">
                <a:hlinkClick r:id="rId3"/>
              </a:rPr>
              <a:t>https://</a:t>
            </a:r>
            <a:r>
              <a:rPr lang="en-US" sz="1600" dirty="0" smtClean="0">
                <a:hlinkClick r:id="rId3"/>
              </a:rPr>
              <a:t>lbipu.ums.ac.id/wp-content/uploads/sites/72/2019/11/Materi-ETP-Unit-2-dan-3.pdf</a:t>
            </a:r>
            <a:r>
              <a:rPr lang="en-US" sz="1600" dirty="0" smtClean="0"/>
              <a:t> page 7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42859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Korean Aesthetic Pitch Deck by Slidesgo">
  <a:themeElements>
    <a:clrScheme name="Simple Light">
      <a:dk1>
        <a:srgbClr val="1E1E1E"/>
      </a:dk1>
      <a:lt1>
        <a:srgbClr val="664B34"/>
      </a:lt1>
      <a:dk2>
        <a:srgbClr val="887C62"/>
      </a:dk2>
      <a:lt2>
        <a:srgbClr val="D4CBBB"/>
      </a:lt2>
      <a:accent1>
        <a:srgbClr val="E7E2D6"/>
      </a:accent1>
      <a:accent2>
        <a:srgbClr val="F3F3F3"/>
      </a:accent2>
      <a:accent3>
        <a:srgbClr val="E2B0A6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1119</Words>
  <Application>Microsoft Office PowerPoint</Application>
  <PresentationFormat>On-screen Show (16:9)</PresentationFormat>
  <Paragraphs>201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Kulim Park</vt:lpstr>
      <vt:lpstr>Kulim Park SemiBold</vt:lpstr>
      <vt:lpstr>Manrope</vt:lpstr>
      <vt:lpstr>Nunito Light</vt:lpstr>
      <vt:lpstr>Minimalist Korean Aesthetic Pitch Deck by Slidesgo</vt:lpstr>
      <vt:lpstr>SIMPLE PRESENT TENSE</vt:lpstr>
      <vt:lpstr>What are the answers?</vt:lpstr>
      <vt:lpstr>What is Simple Present Tense?</vt:lpstr>
      <vt:lpstr>Verbal Simple Present Tense</vt:lpstr>
      <vt:lpstr>Exercise</vt:lpstr>
      <vt:lpstr>Nominal Simple Present Tense</vt:lpstr>
      <vt:lpstr>Adverb of Frequency</vt:lpstr>
      <vt:lpstr>Exercise</vt:lpstr>
      <vt:lpstr>Translate into English!</vt:lpstr>
      <vt:lpstr>Verbal Simple Present Tense</vt:lpstr>
      <vt:lpstr>Vocabularies</vt:lpstr>
      <vt:lpstr>Skim the texts below!</vt:lpstr>
      <vt:lpstr>Exercise</vt:lpstr>
      <vt:lpstr>Describing school and workplace</vt:lpstr>
      <vt:lpstr>Vocabularies</vt:lpstr>
      <vt:lpstr>Role-play</vt:lpstr>
      <vt:lpstr>Role-play</vt:lpstr>
      <vt:lpstr>Expressions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Telling Daily Activities &amp; Describing School</dc:title>
  <dc:creator>w10</dc:creator>
  <cp:lastModifiedBy>w10</cp:lastModifiedBy>
  <cp:revision>32</cp:revision>
  <dcterms:modified xsi:type="dcterms:W3CDTF">2025-09-24T04:28:02Z</dcterms:modified>
</cp:coreProperties>
</file>